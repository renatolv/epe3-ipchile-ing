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3a13942e04132" /><Relationship Type="http://schemas.openxmlformats.org/officeDocument/2006/relationships/extended-properties" Target="/docProps/app.xml" Id="R4f73656bb52845c4" /><Relationship Type="http://schemas.openxmlformats.org/officeDocument/2006/relationships/officeDocument" Target="/ppt/presentation.xml" Id="R8dc4be3aef284a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9f79d0e5d4aa6"/>
  </p:sldMasterIdLst>
  <p:notesMasterIdLst>
    <p:notesMasterId xmlns:r="http://schemas.openxmlformats.org/officeDocument/2006/relationships" r:id="Rac1866c811a44d7d"/>
  </p:notesMasterIdLst>
  <p:sldIdLst>
    <p:sldId xmlns:r="http://schemas.openxmlformats.org/officeDocument/2006/relationships" id="256" r:id="R6ca40f0227484c16"/>
    <p:sldId xmlns:r="http://schemas.openxmlformats.org/officeDocument/2006/relationships" id="257" r:id="R8402ab438cd64e25"/>
    <p:sldId xmlns:r="http://schemas.openxmlformats.org/officeDocument/2006/relationships" id="258" r:id="R60d2e8c19dbd45fc"/>
    <p:sldId xmlns:r="http://schemas.openxmlformats.org/officeDocument/2006/relationships" id="259" r:id="R764dd4ae4c7746f2"/>
    <p:sldId xmlns:r="http://schemas.openxmlformats.org/officeDocument/2006/relationships" id="260" r:id="R34a712706cad4c98"/>
    <p:sldId xmlns:r="http://schemas.openxmlformats.org/officeDocument/2006/relationships" id="261" r:id="R1b01405052b44baa"/>
    <p:sldId xmlns:r="http://schemas.openxmlformats.org/officeDocument/2006/relationships" id="262" r:id="R1fdbafb8d83f45b2"/>
    <p:sldId xmlns:r="http://schemas.openxmlformats.org/officeDocument/2006/relationships" id="263" r:id="R28f636c2f40348dd"/>
    <p:sldId xmlns:r="http://schemas.openxmlformats.org/officeDocument/2006/relationships" id="264" r:id="R57a33ac9c7fc43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1ede74fc84778" /><Relationship Type="http://schemas.openxmlformats.org/officeDocument/2006/relationships/slideMaster" Target="/ppt/slideMasters/slideMaster1.xml" Id="Redb9f79d0e5d4aa6" /><Relationship Type="http://schemas.openxmlformats.org/officeDocument/2006/relationships/notesMaster" Target="/ppt/notesMasters/notesMaster1.xml" Id="Rac1866c811a44d7d" /><Relationship Type="http://schemas.openxmlformats.org/officeDocument/2006/relationships/presProps" Target="/ppt/presProps.xml" Id="Rd37ec8b9f6144a61" /><Relationship Type="http://schemas.openxmlformats.org/officeDocument/2006/relationships/tableStyles" Target="/ppt/tableStyles.xml" Id="R5a5486f9315f493e" /><Relationship Type="http://schemas.openxmlformats.org/officeDocument/2006/relationships/slide" Target="/ppt/slides/slide1.xml" Id="R6ca40f0227484c16" /><Relationship Type="http://schemas.openxmlformats.org/officeDocument/2006/relationships/slide" Target="/ppt/slides/slide2.xml" Id="R8402ab438cd64e25" /><Relationship Type="http://schemas.openxmlformats.org/officeDocument/2006/relationships/slide" Target="/ppt/slides/slide3.xml" Id="R60d2e8c19dbd45fc" /><Relationship Type="http://schemas.openxmlformats.org/officeDocument/2006/relationships/slide" Target="/ppt/slides/slide4.xml" Id="R764dd4ae4c7746f2" /><Relationship Type="http://schemas.openxmlformats.org/officeDocument/2006/relationships/slide" Target="/ppt/slides/slide5.xml" Id="R34a712706cad4c98" /><Relationship Type="http://schemas.openxmlformats.org/officeDocument/2006/relationships/slide" Target="/ppt/slides/slide6.xml" Id="R1b01405052b44baa" /><Relationship Type="http://schemas.openxmlformats.org/officeDocument/2006/relationships/slide" Target="/ppt/slides/slide7.xml" Id="R1fdbafb8d83f45b2" /><Relationship Type="http://schemas.openxmlformats.org/officeDocument/2006/relationships/slide" Target="/ppt/slides/slide8.xml" Id="R28f636c2f40348dd" /><Relationship Type="http://schemas.openxmlformats.org/officeDocument/2006/relationships/slide" Target="/ppt/slides/slide9.xml" Id="R57a33ac9c7fc43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5b2f1f499249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27db04086466c" /><Relationship Type="http://schemas.openxmlformats.org/officeDocument/2006/relationships/notesMaster" Target="/ppt/notesMasters/notesMaster1.xml" Id="R91e4eead91354c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44257e9854cfa" /><Relationship Type="http://schemas.openxmlformats.org/officeDocument/2006/relationships/notesMaster" Target="/ppt/notesMasters/notesMaster1.xml" Id="R8c7ad9f8092542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bcce825ad6476d" /><Relationship Type="http://schemas.openxmlformats.org/officeDocument/2006/relationships/notesMaster" Target="/ppt/notesMasters/notesMaster1.xml" Id="Rdce62aaccf5149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0a9f2083b54122" /><Relationship Type="http://schemas.openxmlformats.org/officeDocument/2006/relationships/notesMaster" Target="/ppt/notesMasters/notesMaster1.xml" Id="R64ef10a6dd5640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c4cea6e20d46e2" /><Relationship Type="http://schemas.openxmlformats.org/officeDocument/2006/relationships/notesMaster" Target="/ppt/notesMasters/notesMaster1.xml" Id="R2a2f438d5faa4e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a6e6ebe0164e53" /><Relationship Type="http://schemas.openxmlformats.org/officeDocument/2006/relationships/notesMaster" Target="/ppt/notesMasters/notesMaster1.xml" Id="R4b9bc589793441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fd7628969d4761" /><Relationship Type="http://schemas.openxmlformats.org/officeDocument/2006/relationships/notesMaster" Target="/ppt/notesMasters/notesMaster1.xml" Id="Rcfd819544e4a41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3352c3df384068" /><Relationship Type="http://schemas.openxmlformats.org/officeDocument/2006/relationships/notesMaster" Target="/ppt/notesMasters/notesMaster1.xml" Id="R702372f6419f4a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7517e0d8c64888" /><Relationship Type="http://schemas.openxmlformats.org/officeDocument/2006/relationships/notesMaster" Target="/ppt/notesMasters/notesMaster1.xml" Id="Re600cd3a20d348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Completar nombre, sección, docente y fecha. Presentación de trabajo basada en el prototipo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del caso: mensaje del estudiante. Verificar continuidad con EPE 2. No existen mediciones de ahorro o quiebres de stock.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Implementación: app.py, api.py y train_model.py. Flask consume FastAPI por HTTP. Documentación: https://fastapi.tiangolo.com/tutorial/body/ y https://flask.palletsprojects.com/en/stable/quickstart/.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artifacts/metricas.json y train_model.py. Referencia metodológica: https://scikit-learn.org/stable/modules/cross_validation.html. El rezago observado se actualiza para cada predicción diaria.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 artifacts/interfaz.png. Ejemplo: zona 1, sábado, diciembre, promoción 1 y rezago 95.0.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artifacts/metricas.json, test_metricas y baseline_lag7_test. MAE y RMSE en unidades. Comparación sobre las mismas 580 filas. Menor valor es mejor.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artifacts/pruebas.txt y artifacts/carga.json. 100 solicitudes con concurrencia 10 por flujo y una petición previa de calentamiento. Windows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usabilidad humana no se ha ejecutado. Protocolo completo en PLAN_DE_TRABAJO.md. No se dispone de datos operacionales autorizados.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requisitos: P_ACTIVIDAD_2024 VF.pdf, actividad evaluativa IPCHILE. El repositorio está preparado localmente y aún no está publicado.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f976ffea44e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5e7557311d44c9" /><Relationship Type="http://schemas.openxmlformats.org/officeDocument/2006/relationships/slideLayout" Target="/ppt/slideLayouts/slideLayout1.xml" Id="R2cec84e230ca49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ec84e230ca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d0f456b3f41f0" /><Relationship Type="http://schemas.openxmlformats.org/officeDocument/2006/relationships/notesSlide" Target="/ppt/notesSlides/notesSlide1.xml" Id="R10f43aa5a1304e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9c9e275444bf1" /><Relationship Type="http://schemas.openxmlformats.org/officeDocument/2006/relationships/notesSlide" Target="/ppt/notesSlides/notesSlide2.xml" Id="Rbf4b4b794040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2f4ec5143462f" /><Relationship Type="http://schemas.openxmlformats.org/officeDocument/2006/relationships/notesSlide" Target="/ppt/notesSlides/notesSlide3.xml" Id="R71eb40e8b55d4b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56b60218f4042" /><Relationship Type="http://schemas.openxmlformats.org/officeDocument/2006/relationships/notesSlide" Target="/ppt/notesSlides/notesSlide4.xml" Id="Rba09bc6b614548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68c63681a48f1" /><Relationship Type="http://schemas.openxmlformats.org/officeDocument/2006/relationships/image" Target="/ppt/media/image.png" Id="R7710bb98cb224056" /><Relationship Type="http://schemas.openxmlformats.org/officeDocument/2006/relationships/notesSlide" Target="/ppt/notesSlides/notesSlide5.xml" Id="R91522941797846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9ee1df4494568" /><Relationship Type="http://schemas.openxmlformats.org/officeDocument/2006/relationships/chart" Target="/ppt/slides/charts/chart1.xml" Id="R5a5b466054464d88" /><Relationship Type="http://schemas.openxmlformats.org/officeDocument/2006/relationships/notesSlide" Target="/ppt/notesSlides/notesSlide6.xml" Id="Rd0ef0df0e85d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3d89748d048dd" /><Relationship Type="http://schemas.openxmlformats.org/officeDocument/2006/relationships/notesSlide" Target="/ppt/notesSlides/notesSlide7.xml" Id="R11784bfe95d34e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09551dbc54806" /><Relationship Type="http://schemas.openxmlformats.org/officeDocument/2006/relationships/notesSlide" Target="/ppt/notesSlides/notesSlide8.xml" Id="R36b7b81467e94a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e804cc3e542df" /><Relationship Type="http://schemas.openxmlformats.org/officeDocument/2006/relationships/notesSlide" Target="/ppt/notesSlides/notesSlide9.xml" Id="R08d79da3512c48e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Regresión lineal</c:v>
          </c:tx>
          <c:spPr>
            <a:solidFill xmlns:a="http://schemas.openxmlformats.org/drawingml/2006/main">
              <a:srgbClr val="006B68"/>
            </a:solidFill>
          </c:spPr>
          <c:cat>
            <c:strRef>
              <c:f>'Chart Data'!$A$2:$A$3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6.41</c:v>
                </c:pt>
                <c:pt idx="1">
                  <c:v>8.07</c:v>
                </c:pt>
              </c:numCache>
            </c:numRef>
          </c:val>
        </c:ser>
        <c:ser>
          <c:idx val="1"/>
          <c:order val="1"/>
          <c:tx>
            <c:v>Persistencia semanal</c:v>
          </c:tx>
          <c:spPr>
            <a:solidFill xmlns:a="http://schemas.openxmlformats.org/drawingml/2006/main">
              <a:srgbClr val="A2AFB7"/>
            </a:solidFill>
          </c:spPr>
          <c:cat>
            <c:strRef>
              <c:f>'Chart Data'!$C$2:$C$3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13.7</c:v>
                </c:pt>
                <c:pt idx="1">
                  <c:v>17.51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Calibri"/>
              <a:ea typeface="Calibri"/>
              <a:cs typeface="Calibri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F1FCE-87B5-4929-8804-D791DA8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NexaFlow</a:t>
            </a:r>
          </a:p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Predicción de demanda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614B5-2D12-401C-9005-345EE14D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1018C-FF53-415E-B754-C4DF073A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8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Prototipo web con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75ABC-7A83-4616-B3A5-096CCB88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Demostración académica con datos sintéticos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449FF-8289-42E8-BF47-BD617A71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Estudiante y sección: completar antes de entregar</a:t>
            </a:r>
          </a:p>
        </p:txBody>
      </p:sp>
    </p:spTree>
    <p:extLst>
      <p:ext uri="{BB962C8B-B14F-4D97-AF65-F5344CB8AC3E}">
        <p14:creationId xmlns:p14="http://schemas.microsoft.com/office/powerpoint/2010/main" val="870490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EFEC8-6B64-4582-841A-F1656016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Problema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B9872-B70B-4217-882B-FB3D64B1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777A4-D5AE-44D8-AAF1-04CAE604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Decisión que apoya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6FA50-2364-4C0B-82B6-5DE109D7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Revisar la reposición a partir de la demanda estimada para una zona y un día.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345A5-23B3-4AEC-8518-00839BAE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Alcance del prototipo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4AAD2-B2A0-45A6-B362-49B46180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4857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Cuatro zonas</a:t>
            </a:r>
          </a:p>
          <a:p xmlns:a="http://schemas.openxmlformats.org/drawingml/2006/main">
            <a:pPr>
              <a:defRPr sz="23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Demanda agregada diaria</a:t>
            </a:r>
          </a:p>
          <a:p xmlns:a="http://schemas.openxmlformats.org/drawingml/2006/main">
            <a:pPr>
              <a:defRPr sz="23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Cinco variables de entrada</a:t>
            </a:r>
          </a:p>
          <a:p xmlns:a="http://schemas.openxmlformats.org/drawingml/2006/main">
            <a:pPr>
              <a:defRPr sz="23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Revisión humana del resultado</a:t>
            </a:r>
          </a:p>
        </p:txBody>
      </p:sp>
    </p:spTree>
    <p:extLst>
      <p:ext uri="{BB962C8B-B14F-4D97-AF65-F5344CB8AC3E}">
        <p14:creationId xmlns:p14="http://schemas.microsoft.com/office/powerpoint/2010/main" val="1516958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DB028-E930-459D-AED7-2A98A6CF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Integración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55EB6-E641-4EE9-ADB0-E757FC9B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798F2-4387-473C-BD4D-ED4D761E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01  Interfaz Flask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43CC9-409C-47CE-B6A9-9B4CF34D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Formulario y mensajes de resultado</a:t>
            </a:r>
          </a:p>
          <a:p xmlns:a="http://schemas.openxmlformats.org/drawingml/2006/main">
            <a:pPr>
              <a:defRPr sz="21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Puerto 5000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F883F-DCBA-4526-9A9B-E62A757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02  API FastAPI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F19FF-EBAA-48DF-AF41-9AD13E30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Validación y consulta del modelo</a:t>
            </a:r>
          </a:p>
          <a:p xmlns:a="http://schemas.openxmlformats.org/drawingml/2006/main">
            <a:pPr>
              <a:defRPr sz="21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Puerto 8000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BBB88-916C-4ADA-8309-FB34F489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03  Modelo Scikit-learn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19988-63EB-4281-BE9D-809BD63F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Entrenamiento previo y carga del modelo al iniciar el servicio</a:t>
            </a:r>
          </a:p>
        </p:txBody>
      </p:sp>
    </p:spTree>
    <p:extLst>
      <p:ext uri="{BB962C8B-B14F-4D97-AF65-F5344CB8AC3E}">
        <p14:creationId xmlns:p14="http://schemas.microsoft.com/office/powerpoint/2010/main" val="515672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4BD11-4CA9-47AA-8E7C-159CF169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Datos y evaluación temporal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F416E-C526-42A0-ADE8-5ED640E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705C0-5A14-4C06-8DC0-0D510FD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2.896 registros sintéticos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95E29-820C-4EE3-8434-D94FDA16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2023–2024, cuatro zonas y semilla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552B5-E7D2-4199-A588-88F0EE9E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2.316 filas para desarrollo con cinco ventanas temporales</a:t>
            </a:r>
          </a:p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580 filas reservadas para prueba desde el 09-08-2024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9A5A6-753A-4F68-9339-AD43D4CC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Selección por MAE entre regresión lineal y cuatro configuraciones Random Forest</a:t>
            </a:r>
          </a:p>
        </p:txBody>
      </p:sp>
    </p:spTree>
    <p:extLst>
      <p:ext uri="{BB962C8B-B14F-4D97-AF65-F5344CB8AC3E}">
        <p14:creationId xmlns:p14="http://schemas.microsoft.com/office/powerpoint/2010/main" val="787690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F0ACE-AE1B-462F-9834-B8E6C525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Aplicación en funcionamiento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AA746-F074-4B80-B9A4-A048C1E2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0bb98cb224056"/>
          <a:stretch xmlns:a="http://schemas.openxmlformats.org/drawingml/2006/main"/>
        </p:blipFill>
        <p:spPr>
          <a:xfrm xmlns:a="http://schemas.openxmlformats.org/drawingml/2006/main">
            <a:off x="1483302" y="1524000"/>
            <a:ext cx="5320145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94F7F-527F-4D40-B0D0-28A9F9B7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127,8 unidades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4C890-8500-4239-B910-4AC1D642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Predicción de demostración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El formulario conserva las entradas y muestra límites de uso.</a:t>
            </a:r>
          </a:p>
        </p:txBody>
      </p:sp>
    </p:spTree>
    <p:extLst>
      <p:ext uri="{BB962C8B-B14F-4D97-AF65-F5344CB8AC3E}">
        <p14:creationId xmlns:p14="http://schemas.microsoft.com/office/powerpoint/2010/main" val="184059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621DB-0947-461C-B5C0-89C66712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Error en el período de prueba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D36AF-4D4D-4B32-B3A2-D4156896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6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5b466054464d8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D35BF-B7BE-4481-BA99-334D5BF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000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MAE  6.41</a:t>
            </a:r>
          </a:p>
          <a:p xmlns:a="http://schemas.openxmlformats.org/drawingml/2006/main">
            <a:pPr>
              <a:defRPr sz="255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RMSE  8.07</a:t>
            </a:r>
          </a:p>
          <a:p xmlns:a="http://schemas.openxmlformats.org/drawingml/2006/main">
            <a:pPr>
              <a:defRPr sz="255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R²  0.842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E5F3B-9316-417F-8151-6A2D6D28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24375"/>
            <a:ext cx="3000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Datos sintéticos</a:t>
            </a:r>
          </a:p>
          <a:p xmlns:a="http://schemas.openxmlformats.org/drawingml/2006/main">
            <a:pPr>
              <a:defRPr sz="19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Menor error no implica ahorro empresarial demostrado.</a:t>
            </a:r>
          </a:p>
        </p:txBody>
      </p:sp>
    </p:spTree>
    <p:extLst>
      <p:ext uri="{BB962C8B-B14F-4D97-AF65-F5344CB8AC3E}">
        <p14:creationId xmlns:p14="http://schemas.microsoft.com/office/powerpoint/2010/main" val="847729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228EA-0DD9-447D-88A2-25CC0B0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Pruebas y carga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01B69-FB70-4516-ABED-9D04F66A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8A98A-C50D-4D54-B09B-BB2103A7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16 pruebas aprobadas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2EABB-922A-4C1F-96BE-6F09C03F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Predicciones, entradas inválidas, integración y fallos del servicio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4BD5C-B4D7-47D9-B2E9-E05BB407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API: p95 52.2 ms</a:t>
            </a:r>
          </a:p>
          <a:p xmlns:a="http://schemas.openxmlformats.org/drawingml/2006/main">
            <a:pPr>
              <a:defRPr sz="240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Web y API: p95 96.3 ms</a:t>
            </a:r>
          </a:p>
          <a:p xmlns:a="http://schemas.openxmlformats.org/drawingml/2006/main">
            <a:pPr>
              <a:defRPr sz="240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0 errores en ambos escenarios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3439E-939B-45C3-B0E0-17927E3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5287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100 solicitudes</a:t>
            </a:r>
          </a:p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10 concurrentes</a:t>
            </a:r>
          </a:p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por escenario</a:t>
            </a:r>
          </a:p>
        </p:txBody>
      </p:sp>
    </p:spTree>
    <p:extLst>
      <p:ext uri="{BB962C8B-B14F-4D97-AF65-F5344CB8AC3E}">
        <p14:creationId xmlns:p14="http://schemas.microsoft.com/office/powerpoint/2010/main" val="1295452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BBF79-ED15-4774-A49B-7E76BC52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Validación pendiente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9E0B6-3256-409F-94E8-6476C864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19B7A-FF70-4BC5-998A-C9E26D8C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Datos empresariales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88053-8062-47C2-88C0-E0BB3CA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504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Verificar origen y calidad.</a:t>
            </a:r>
          </a:p>
          <a:p xmlns:a="http://schemas.openxmlformats.org/drawingml/2006/main">
            <a:pPr>
              <a:defRPr sz="232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Reentrenar y evaluar errores por zona y costos operativos.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C9C47-1A9F-4C93-B358-4A6488DC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Usabilidad con participantes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7F226-8F96-406F-AD71-3D3596B0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5048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Realizar tareas con 3–5 personas.</a:t>
            </a:r>
          </a:p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Registrar éxito, tiempo y dificultades.</a:t>
            </a:r>
          </a:p>
          <a:p xmlns:a="http://schemas.openxmlformats.org/drawingml/2006/main">
            <a:pPr>
              <a:defRPr sz="2250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Corregir y volver a probar.</a:t>
            </a:r>
          </a:p>
        </p:txBody>
      </p:sp>
    </p:spTree>
    <p:extLst>
      <p:ext uri="{BB962C8B-B14F-4D97-AF65-F5344CB8AC3E}">
        <p14:creationId xmlns:p14="http://schemas.microsoft.com/office/powerpoint/2010/main" val="1821283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329BA-0835-4EC8-94A3-EE0BE6E7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5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23B50"/>
                </a:solidFill>
                <a:latin typeface="Calibri"/>
                <a:ea typeface="Calibri"/>
                <a:cs typeface="Calibri"/>
              </a:rPr>
              <a:t>Entregables y 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01783-3E8A-4ABA-94C4-6D0511E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571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06571"/>
                </a:solidFill>
                <a:latin typeface="Calibri"/>
                <a:ea typeface="Calibri"/>
                <a:cs typeface="Calibri"/>
              </a:rPr>
              <a:t>NexaFlow     EPE 3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661C4-E002-4DBC-941C-1EEEE30D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Informe Word y PDF con diez páginas de desarrollo guiado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320BE-E224-481D-8C1E-A4B6BADE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345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3345"/>
                </a:solidFill>
                <a:latin typeface="Calibri"/>
                <a:ea typeface="Calibri"/>
                <a:cs typeface="Calibri"/>
              </a:rPr>
              <a:t>Código, modelo, pruebas y evidencia de ejecución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3B0D7-63E0-47C2-B150-5C93486E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Pendiente: completar antecedentes, validar con usuarios</a:t>
            </a:r>
          </a:p>
          <a:p xmlns:a="http://schemas.openxmlformats.org/drawingml/2006/main">
            <a:pPr>
              <a:defRPr sz="2325" b="1">
                <a:solidFill>
                  <a:srgbClr val="006B6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6B68"/>
                </a:solidFill>
                <a:latin typeface="Calibri"/>
                <a:ea typeface="Calibri"/>
                <a:cs typeface="Calibri"/>
              </a:rPr>
              <a:t>y publicar el repositorio en GitHub</a:t>
            </a:r>
          </a:p>
        </p:txBody>
      </p:sp>
    </p:spTree>
    <p:extLst>
      <p:ext uri="{BB962C8B-B14F-4D97-AF65-F5344CB8AC3E}">
        <p14:creationId xmlns:p14="http://schemas.microsoft.com/office/powerpoint/2010/main" val="579235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2026-09-14T15:28:01.8480000Z</dcterms:created>
  <dcterms:modified xsi:type="dcterms:W3CDTF">2026-09-14T15:28:01.8480000Z</dcterms:modified>
</coreProperties>
</file>