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80a68c946a43df" /><Relationship Type="http://schemas.openxmlformats.org/officeDocument/2006/relationships/extended-properties" Target="/docProps/app.xml" Id="R77f379799d014d23" /><Relationship Type="http://schemas.openxmlformats.org/officeDocument/2006/relationships/officeDocument" Target="/ppt/presentation.xml" Id="R465ac3c866434e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b9c118a9554aab"/>
  </p:sldMasterIdLst>
  <p:notesMasterIdLst>
    <p:notesMasterId xmlns:r="http://schemas.openxmlformats.org/officeDocument/2006/relationships" r:id="R97cae7b197de4f54"/>
  </p:notesMasterIdLst>
  <p:sldIdLst>
    <p:sldId xmlns:r="http://schemas.openxmlformats.org/officeDocument/2006/relationships" id="256" r:id="R017dc9246f7f4506"/>
    <p:sldId xmlns:r="http://schemas.openxmlformats.org/officeDocument/2006/relationships" id="257" r:id="R13c6516c333c4cee"/>
    <p:sldId xmlns:r="http://schemas.openxmlformats.org/officeDocument/2006/relationships" id="258" r:id="Recd560dade5544a5"/>
    <p:sldId xmlns:r="http://schemas.openxmlformats.org/officeDocument/2006/relationships" id="259" r:id="R18ae6d2f46534a9f"/>
    <p:sldId xmlns:r="http://schemas.openxmlformats.org/officeDocument/2006/relationships" id="260" r:id="Ra75ff16ce7144d4a"/>
    <p:sldId xmlns:r="http://schemas.openxmlformats.org/officeDocument/2006/relationships" id="261" r:id="Re50b9ee061d64773"/>
    <p:sldId xmlns:r="http://schemas.openxmlformats.org/officeDocument/2006/relationships" id="262" r:id="R071ed0b4c77f469a"/>
    <p:sldId xmlns:r="http://schemas.openxmlformats.org/officeDocument/2006/relationships" id="263" r:id="R698d30c59e1f4483"/>
    <p:sldId xmlns:r="http://schemas.openxmlformats.org/officeDocument/2006/relationships" id="264" r:id="Rdcf4eaac499d4245"/>
    <p:sldId xmlns:r="http://schemas.openxmlformats.org/officeDocument/2006/relationships" id="265" r:id="R7fe0c9cf7bae450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8f5e27ee584fb7" /><Relationship Type="http://schemas.openxmlformats.org/officeDocument/2006/relationships/slideMaster" Target="/ppt/slideMasters/slideMaster1.xml" Id="Re5b9c118a9554aab" /><Relationship Type="http://schemas.openxmlformats.org/officeDocument/2006/relationships/notesMaster" Target="/ppt/notesMasters/notesMaster1.xml" Id="R97cae7b197de4f54" /><Relationship Type="http://schemas.openxmlformats.org/officeDocument/2006/relationships/presProps" Target="/ppt/presProps.xml" Id="Re95f56f937504248" /><Relationship Type="http://schemas.openxmlformats.org/officeDocument/2006/relationships/tableStyles" Target="/ppt/tableStyles.xml" Id="R8798d4ce0df74acc" /><Relationship Type="http://schemas.openxmlformats.org/officeDocument/2006/relationships/slide" Target="/ppt/slides/slide1.xml" Id="R017dc9246f7f4506" /><Relationship Type="http://schemas.openxmlformats.org/officeDocument/2006/relationships/slide" Target="/ppt/slides/slide2.xml" Id="R13c6516c333c4cee" /><Relationship Type="http://schemas.openxmlformats.org/officeDocument/2006/relationships/slide" Target="/ppt/slides/slide3.xml" Id="Recd560dade5544a5" /><Relationship Type="http://schemas.openxmlformats.org/officeDocument/2006/relationships/slide" Target="/ppt/slides/slide4.xml" Id="R18ae6d2f46534a9f" /><Relationship Type="http://schemas.openxmlformats.org/officeDocument/2006/relationships/slide" Target="/ppt/slides/slide5.xml" Id="Ra75ff16ce7144d4a" /><Relationship Type="http://schemas.openxmlformats.org/officeDocument/2006/relationships/slide" Target="/ppt/slides/slide6.xml" Id="Re50b9ee061d64773" /><Relationship Type="http://schemas.openxmlformats.org/officeDocument/2006/relationships/slide" Target="/ppt/slides/slide7.xml" Id="R071ed0b4c77f469a" /><Relationship Type="http://schemas.openxmlformats.org/officeDocument/2006/relationships/slide" Target="/ppt/slides/slide8.xml" Id="R698d30c59e1f4483" /><Relationship Type="http://schemas.openxmlformats.org/officeDocument/2006/relationships/slide" Target="/ppt/slides/slide9.xml" Id="Rdcf4eaac499d4245" /><Relationship Type="http://schemas.openxmlformats.org/officeDocument/2006/relationships/slide" Target="/ppt/slides/slide10.xml" Id="R7fe0c9cf7bae45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d1c703695e49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b5a0a8a83849ac" /><Relationship Type="http://schemas.openxmlformats.org/officeDocument/2006/relationships/notesMaster" Target="/ppt/notesMasters/notesMaster1.xml" Id="Ra5131464095a4a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ed023225b245f0" /><Relationship Type="http://schemas.openxmlformats.org/officeDocument/2006/relationships/notesMaster" Target="/ppt/notesMasters/notesMaster1.xml" Id="Rcb8a5bd351b343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cc9f471158f4a7e" /><Relationship Type="http://schemas.openxmlformats.org/officeDocument/2006/relationships/notesMaster" Target="/ppt/notesMasters/notesMaster1.xml" Id="R85b54b7fab1240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669c509adf42dc" /><Relationship Type="http://schemas.openxmlformats.org/officeDocument/2006/relationships/notesMaster" Target="/ppt/notesMasters/notesMaster1.xml" Id="R14d24a1d7bb24b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fd0734116c4e8a" /><Relationship Type="http://schemas.openxmlformats.org/officeDocument/2006/relationships/notesMaster" Target="/ppt/notesMasters/notesMaster1.xml" Id="R0a57703d0ffd47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77f7dde94c4e44" /><Relationship Type="http://schemas.openxmlformats.org/officeDocument/2006/relationships/notesMaster" Target="/ppt/notesMasters/notesMaster1.xml" Id="R704e10894d9846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055e8537eb4a23" /><Relationship Type="http://schemas.openxmlformats.org/officeDocument/2006/relationships/notesMaster" Target="/ppt/notesMasters/notesMaster1.xml" Id="R29c741e60fdc486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aa55f7e9294f7a" /><Relationship Type="http://schemas.openxmlformats.org/officeDocument/2006/relationships/notesMaster" Target="/ppt/notesMasters/notesMaster1.xml" Id="Rf5046ba4ba8840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38cd423b764b65" /><Relationship Type="http://schemas.openxmlformats.org/officeDocument/2006/relationships/notesMaster" Target="/ppt/notesMasters/notesMaster1.xml" Id="Rbd06640c2fff434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7879ef9905e43fa" /><Relationship Type="http://schemas.openxmlformats.org/officeDocument/2006/relationships/notesMaster" Target="/ppt/notesMasters/notesMaster1.xml" Id="R1f9add1aa37d4b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Completar nombre, sección, docente y fecha. Presentación de trabajo basada en el prototipo local.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caso: mensaje del estudiante. Verificar continuidad con EPE 2. No existen mediciones de ahorro o quiebres de stock.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Implementación: app.py, api.py y train_model.py. Flask consume FastAPI por HTTP. Documentación: https://fastapi.tiangolo.com/tutorial/body/ y https://flask.palletsprojects.com/en/stable/quickstart/.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artifacts/metricas.json y train_model.py. Referencia metodológica: https://scikit-learn.org/stable/modules/cross_validation.html. El rezago observado se actualiza para cada predicción diaria.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real de artifacts/interfaz_resumen.png. Ejemplo: zona 1, sábado 19 de septiembre de 2026, promoción 1 y rezago 95.0. Datos sintéticos.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artifacts/metricas.json, test_metricas y baseline_lag7_test. MAE y RMSE en unidades. Comparación sobre las mismas 580 filas. Menor valor es mejor.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Captura de /docs del servicio FastAPI en ejecución local. La documentación es autónoma y /openapi.json conserva el esquema generado por FastAPI.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test_app.py, salida actual de pytest y artifacts/carga.json. 100 solicitudes con concurrencia 10 por flujo y una petición previa de calentamiento. Windows local.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usabilidad humana no se ha ejecutado. Protocolo completo en PLAN_DE_TRABAJO.md. No se dispone de datos operacionales autorizados.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 requisitos: P_ACTIVIDAD_2024 VF.pdf, actividad evaluativa IPCHILE. Repositorio: https://github.com/RenatoLV/EPE3-IPCHILE-ING. Verificar acceso del docente y el mismo commit.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846f6c9a8641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c6b9f6caee47ce" /><Relationship Type="http://schemas.openxmlformats.org/officeDocument/2006/relationships/slideLayout" Target="/ppt/slideLayouts/slideLayout1.xml" Id="R080cb19a2d4745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80cb19a2d4745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13f16953be4b8c" /><Relationship Type="http://schemas.openxmlformats.org/officeDocument/2006/relationships/notesSlide" Target="/ppt/notesSlides/notesSlide1.xml" Id="R618f4bb984ea4b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dbf316f824000" /><Relationship Type="http://schemas.openxmlformats.org/officeDocument/2006/relationships/notesSlide" Target="/ppt/notesSlides/notesSlide2.xml" Id="Rd88f852767de4d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1bef84f084e69" /><Relationship Type="http://schemas.openxmlformats.org/officeDocument/2006/relationships/notesSlide" Target="/ppt/notesSlides/notesSlide3.xml" Id="R3fe79234f8f84b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64a46ca73a4e6a" /><Relationship Type="http://schemas.openxmlformats.org/officeDocument/2006/relationships/notesSlide" Target="/ppt/notesSlides/notesSlide4.xml" Id="R505b0357072c43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ae6aa73d64728" /><Relationship Type="http://schemas.openxmlformats.org/officeDocument/2006/relationships/image" Target="/ppt/media/image.png" Id="Rd13f6054ac494a5b" /><Relationship Type="http://schemas.openxmlformats.org/officeDocument/2006/relationships/notesSlide" Target="/ppt/notesSlides/notesSlide5.xml" Id="Rbaa9fb3b45714c2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cabb919e084b12" /><Relationship Type="http://schemas.openxmlformats.org/officeDocument/2006/relationships/chart" Target="/ppt/slides/charts/chart1.xml" Id="Rff01decb0bbd4101" /><Relationship Type="http://schemas.openxmlformats.org/officeDocument/2006/relationships/notesSlide" Target="/ppt/notesSlides/notesSlide6.xml" Id="R6cab57e51bb445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cb01b85db4145" /><Relationship Type="http://schemas.openxmlformats.org/officeDocument/2006/relationships/image" Target="/ppt/media/image2.png" Id="Re368e7aab35c4259" /><Relationship Type="http://schemas.openxmlformats.org/officeDocument/2006/relationships/notesSlide" Target="/ppt/notesSlides/notesSlide7.xml" Id="Rf2ff3cc5de404b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916bffc334b46" /><Relationship Type="http://schemas.openxmlformats.org/officeDocument/2006/relationships/notesSlide" Target="/ppt/notesSlides/notesSlide8.xml" Id="Rab89c62721034a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1849f4b5bc4926" /><Relationship Type="http://schemas.openxmlformats.org/officeDocument/2006/relationships/notesSlide" Target="/ppt/notesSlides/notesSlide9.xml" Id="R214b5a7bc40f4a4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8054c79ec04d5b" /><Relationship Type="http://schemas.openxmlformats.org/officeDocument/2006/relationships/notesSlide" Target="/ppt/notesSlides/notesSlide10.xml" Id="R220f39d7b5ae4cb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Regresión lineal</c:v>
          </c:tx>
          <c:spPr>
            <a:solidFill xmlns:a="http://schemas.openxmlformats.org/drawingml/2006/main">
              <a:srgbClr val="006B68"/>
            </a:solidFill>
          </c:spPr>
          <c:cat>
            <c:strRef>
              <c:f>'Chart Data'!$A$2:$A$3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6.41</c:v>
                </c:pt>
                <c:pt idx="1">
                  <c:v>8.07</c:v>
                </c:pt>
              </c:numCache>
            </c:numRef>
          </c:val>
        </c:ser>
        <c:ser>
          <c:idx val="1"/>
          <c:order val="1"/>
          <c:tx>
            <c:v>Persistencia semanal</c:v>
          </c:tx>
          <c:spPr>
            <a:solidFill xmlns:a="http://schemas.openxmlformats.org/drawingml/2006/main">
              <a:srgbClr val="A2AFB7"/>
            </a:solidFill>
          </c:spPr>
          <c:cat>
            <c:strRef>
              <c:f>'Chart Data'!$C$2:$C$3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13.7</c:v>
                </c:pt>
                <c:pt idx="1">
                  <c:v>17.51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Calibri"/>
              <a:ea typeface="Calibri"/>
              <a:cs typeface="Calibri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D8058B-C56C-4DEF-92AF-1C4F8947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625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23B50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23B50"/>
                </a:solidFill>
                <a:latin typeface="Calibri"/>
                <a:ea typeface="Calibri"/>
                <a:cs typeface="Calibri"/>
              </a:rPr>
              <a:t>NexaFlow</a:t>
            </a:r>
          </a:p>
          <a:p xmlns:a="http://schemas.openxmlformats.org/drawingml/2006/main">
            <a:pPr>
              <a:defRPr sz="3300" b="1">
                <a:solidFill>
                  <a:srgbClr val="123B50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23B50"/>
                </a:solidFill>
                <a:latin typeface="Calibri"/>
                <a:ea typeface="Calibri"/>
                <a:cs typeface="Calibri"/>
              </a:rPr>
              <a:t>Predicción de demanda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B3BD17-EF99-45D0-8267-27EFCD80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341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571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06571"/>
                </a:solidFill>
                <a:latin typeface="Calibri"/>
                <a:ea typeface="Calibri"/>
                <a:cs typeface="Calibri"/>
              </a:rPr>
              <a:t>NexaFlow     EPE 3    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FA8AE9-A889-403A-AE72-8557E0F7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9550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85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Prototipo web con Machine Learning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123239-0795-4BA2-AC6C-D513DC38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337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Demostración académica con datos sintéticos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51707-7CEB-4DF0-869C-F60F7F1B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577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Estudiante y sección: completar antes de entregar</a:t>
            </a:r>
          </a:p>
        </p:txBody>
      </p:sp>
    </p:spTree>
    <p:extLst>
      <p:ext uri="{BB962C8B-B14F-4D97-AF65-F5344CB8AC3E}">
        <p14:creationId xmlns:p14="http://schemas.microsoft.com/office/powerpoint/2010/main" val="5464437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CFCDD8-1A10-4811-8242-A93F115F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625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23B50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23B50"/>
                </a:solidFill>
                <a:latin typeface="Calibri"/>
                <a:ea typeface="Calibri"/>
                <a:cs typeface="Calibri"/>
              </a:rPr>
              <a:t>Problema y alcance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F556F0-7ED4-49BC-9DB6-4BB2BD10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341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571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06571"/>
                </a:solidFill>
                <a:latin typeface="Calibri"/>
                <a:ea typeface="Calibri"/>
                <a:cs typeface="Calibri"/>
              </a:rPr>
              <a:t>NexaFlow     EPE 3    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D6CD08-09B5-4D89-B12F-214C7C00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Decisión que apoya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8259AE-35AB-41D3-83A4-C0E9313D2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28875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Revisar la reposición a partir de la demanda estimada para una zona y un día.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8CC4A1-6EB4-4C9C-9CF9-BE24ABEE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7621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Alcance del prototipo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1AF059-C416-444C-B110-834051E7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28875"/>
            <a:ext cx="4857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Cuatro zonas</a:t>
            </a:r>
          </a:p>
          <a:p xmlns:a="http://schemas.openxmlformats.org/drawingml/2006/main">
            <a:pPr>
              <a:defRPr sz="232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Demanda agregada diaria</a:t>
            </a:r>
          </a:p>
          <a:p xmlns:a="http://schemas.openxmlformats.org/drawingml/2006/main">
            <a:pPr>
              <a:defRPr sz="232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Cinco variables de entrada</a:t>
            </a:r>
          </a:p>
          <a:p xmlns:a="http://schemas.openxmlformats.org/drawingml/2006/main">
            <a:pPr>
              <a:defRPr sz="232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Revisión humana del resultado</a:t>
            </a:r>
          </a:p>
        </p:txBody>
      </p:sp>
    </p:spTree>
    <p:extLst>
      <p:ext uri="{BB962C8B-B14F-4D97-AF65-F5344CB8AC3E}">
        <p14:creationId xmlns:p14="http://schemas.microsoft.com/office/powerpoint/2010/main" val="7630853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EB6B84-20EB-4546-8EF1-2038ABAE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625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23B50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23B50"/>
                </a:solidFill>
                <a:latin typeface="Calibri"/>
                <a:ea typeface="Calibri"/>
                <a:cs typeface="Calibri"/>
              </a:rPr>
              <a:t>Integración de la aplicación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621787-4A1D-45AF-8AE5-CC1E473C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341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571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06571"/>
                </a:solidFill>
                <a:latin typeface="Calibri"/>
                <a:ea typeface="Calibri"/>
                <a:cs typeface="Calibri"/>
              </a:rPr>
              <a:t>NexaFlow     EPE 3    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C4BDE-B726-474A-B4D7-38ACE8B6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14500"/>
            <a:ext cx="533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01  Interfaz Flask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066A8E-0127-4680-B772-6409281D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504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Formulario y mensajes de resultado</a:t>
            </a:r>
          </a:p>
          <a:p xmlns:a="http://schemas.openxmlformats.org/drawingml/2006/main">
            <a:pPr>
              <a:defRPr sz="217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Puerto 5000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6D1B0-28DB-4B4B-928F-C5A2A588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02  API FastAPI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6A3867-334C-4E09-9DB1-881A095C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33625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Validación y consulta del modelo</a:t>
            </a:r>
          </a:p>
          <a:p xmlns:a="http://schemas.openxmlformats.org/drawingml/2006/main">
            <a:pPr>
              <a:defRPr sz="217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Puerto 8000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AF4D37-9E05-4DF4-B6E2-7483387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957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475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03  Modelo Scikit-learn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80567E-48E8-4BBF-9A6C-ADDE0E0A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6250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Entrenamiento previo y carga del modelo al iniciar el servicio</a:t>
            </a:r>
          </a:p>
        </p:txBody>
      </p:sp>
    </p:spTree>
    <p:extLst>
      <p:ext uri="{BB962C8B-B14F-4D97-AF65-F5344CB8AC3E}">
        <p14:creationId xmlns:p14="http://schemas.microsoft.com/office/powerpoint/2010/main" val="17648444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BDA219-95F1-44C7-B442-2D2D68F9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625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23B50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23B50"/>
                </a:solidFill>
                <a:latin typeface="Calibri"/>
                <a:ea typeface="Calibri"/>
                <a:cs typeface="Calibri"/>
              </a:rPr>
              <a:t>Datos y evaluación temporal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2F85E-B5B1-4809-A964-C192FF9F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341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571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06571"/>
                </a:solidFill>
                <a:latin typeface="Calibri"/>
                <a:ea typeface="Calibri"/>
                <a:cs typeface="Calibri"/>
              </a:rPr>
              <a:t>NexaFlow     EPE 3    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494E4-A63E-402F-9AA4-635F6F46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2.896 registros sintéticos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167A9F-4D55-4368-AB56-8D4D2F29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7650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2023–2024, cuatro zonas y semilla 42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FB7685-5E3C-4968-9F95-CE2E032EC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29000"/>
            <a:ext cx="10763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2.316 filas para desarrollo con cinco ventanas temporales</a:t>
            </a:r>
          </a:p>
          <a:p xmlns:a="http://schemas.openxmlformats.org/drawingml/2006/main">
            <a:pPr>
              <a:defRPr sz="225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580 filas reservadas para prueba desde el 09-08-2024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FEF883-6136-4847-BD36-55D068FF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Selección por MAE entre regresión lineal y cuatro configuraciones Random Forest</a:t>
            </a:r>
          </a:p>
        </p:txBody>
      </p:sp>
    </p:spTree>
    <p:extLst>
      <p:ext uri="{BB962C8B-B14F-4D97-AF65-F5344CB8AC3E}">
        <p14:creationId xmlns:p14="http://schemas.microsoft.com/office/powerpoint/2010/main" val="14657574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B4F91E-27C1-4588-9EC9-93071E47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625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23B50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23B50"/>
                </a:solidFill>
                <a:latin typeface="Calibri"/>
                <a:ea typeface="Calibri"/>
                <a:cs typeface="Calibri"/>
              </a:rPr>
              <a:t>Aplicación en funcionamiento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8860E1-BD01-4901-B0E0-623B9D24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341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571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06571"/>
                </a:solidFill>
                <a:latin typeface="Calibri"/>
                <a:ea typeface="Calibri"/>
                <a:cs typeface="Calibri"/>
              </a:rPr>
              <a:t>NexaFlow     EPE 3     5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3f6054ac494a5b"/>
          <a:stretch xmlns:a="http://schemas.openxmlformats.org/drawingml/2006/main"/>
        </p:blipFill>
        <p:spPr>
          <a:xfrm xmlns:a="http://schemas.openxmlformats.org/drawingml/2006/main">
            <a:off x="1304310" y="1524000"/>
            <a:ext cx="5678129" cy="4572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A6546F-459F-4B37-9881-3B26B8C0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95500"/>
            <a:ext cx="3524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625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113,7 ± 8,1 unidades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88352A-CB9F-4222-93DC-52C6D9C9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286125"/>
            <a:ext cx="3429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Escenario sintético</a:t>
            </a:r>
          </a:p>
          <a:p xmlns:a="http://schemas.openxmlformats.org/drawingml/2006/main">
            <a:pPr>
              <a:defRPr sz="180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RMSE de test: referencia de error, no intervalo de confianza.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La recomendación compara con el promedio reciente de la ruta.</a:t>
            </a:r>
          </a:p>
        </p:txBody>
      </p:sp>
    </p:spTree>
    <p:extLst>
      <p:ext uri="{BB962C8B-B14F-4D97-AF65-F5344CB8AC3E}">
        <p14:creationId xmlns:p14="http://schemas.microsoft.com/office/powerpoint/2010/main" val="293968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37E916-42CA-4AF6-971C-D91FA2F7D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625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23B50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23B50"/>
                </a:solidFill>
                <a:latin typeface="Calibri"/>
                <a:ea typeface="Calibri"/>
                <a:cs typeface="Calibri"/>
              </a:rPr>
              <a:t>Error en el período de prueba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2798DB-87A6-46F0-ACBA-A3761B15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341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571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06571"/>
                </a:solidFill>
                <a:latin typeface="Calibri"/>
                <a:ea typeface="Calibri"/>
                <a:cs typeface="Calibri"/>
              </a:rPr>
              <a:t>NexaFlow     EPE 3     6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619125" y="1619250"/>
          <a:ext xmlns:a="http://schemas.openxmlformats.org/drawingml/2006/main" cx="7239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01decb0bbd4101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2C5EE3-6870-4EC1-AEAF-CED10898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95500"/>
            <a:ext cx="300037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MAE  6.41</a:t>
            </a:r>
          </a:p>
          <a:p xmlns:a="http://schemas.openxmlformats.org/drawingml/2006/main">
            <a:pPr>
              <a:defRPr sz="2550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RMSE  8.07</a:t>
            </a:r>
          </a:p>
          <a:p xmlns:a="http://schemas.openxmlformats.org/drawingml/2006/main">
            <a:pPr>
              <a:defRPr sz="2550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R²  0.842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BA9133-3511-4F41-B647-4E2D7E2E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24375"/>
            <a:ext cx="30003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Datos sintéticos</a:t>
            </a:r>
          </a:p>
          <a:p xmlns:a="http://schemas.openxmlformats.org/drawingml/2006/main">
            <a:pPr>
              <a:defRPr sz="195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Menor error no implica ahorro empresarial demostrado.</a:t>
            </a:r>
          </a:p>
        </p:txBody>
      </p:sp>
    </p:spTree>
    <p:extLst>
      <p:ext uri="{BB962C8B-B14F-4D97-AF65-F5344CB8AC3E}">
        <p14:creationId xmlns:p14="http://schemas.microsoft.com/office/powerpoint/2010/main" val="17249360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94D0D0-C41B-438D-8EBB-53D52CFC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625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23B50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23B50"/>
                </a:solidFill>
                <a:latin typeface="Calibri"/>
                <a:ea typeface="Calibri"/>
                <a:cs typeface="Calibri"/>
              </a:rPr>
              <a:t>Documentación y prueba de la 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D82510-CD87-4BD0-8F76-3B85B76B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341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571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06571"/>
                </a:solidFill>
                <a:latin typeface="Calibri"/>
                <a:ea typeface="Calibri"/>
                <a:cs typeface="Calibri"/>
              </a:rPr>
              <a:t>NexaFlow     EPE 3     7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68e7aab35c4259"/>
          <a:stretch xmlns:a="http://schemas.openxmlformats.org/drawingml/2006/main"/>
        </p:blipFill>
        <p:spPr>
          <a:xfrm xmlns:a="http://schemas.openxmlformats.org/drawingml/2006/main">
            <a:off x="1847069" y="1476375"/>
            <a:ext cx="3592486" cy="4572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992B5-FB55-4877-9785-E0CA1C23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52625"/>
            <a:ext cx="381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3225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/docs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CA5E13-173E-4F92-9250-EE3BD344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00375"/>
            <a:ext cx="4000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Prueba interactiva de POST /predict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Validación de entradas: 422</a:t>
            </a:r>
          </a:p>
          <a:p xmlns:a="http://schemas.openxmlformats.org/drawingml/2006/main">
            <a:pPr>
              <a:defRPr sz="202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Modelo no disponible: 503</a:t>
            </a:r>
          </a:p>
          <a:p xmlns:a="http://schemas.openxmlformats.org/drawingml/2006/main">
            <a:pPr>
              <a:defRPr sz="202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Esquema: /openapi.json</a:t>
            </a:r>
          </a:p>
        </p:txBody>
      </p:sp>
    </p:spTree>
    <p:extLst>
      <p:ext uri="{BB962C8B-B14F-4D97-AF65-F5344CB8AC3E}">
        <p14:creationId xmlns:p14="http://schemas.microsoft.com/office/powerpoint/2010/main" val="20103344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FF8C2C-0E57-4E4F-A7F9-670543A3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625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23B50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23B50"/>
                </a:solidFill>
                <a:latin typeface="Calibri"/>
                <a:ea typeface="Calibri"/>
                <a:cs typeface="Calibri"/>
              </a:rPr>
              <a:t>Pruebas y carga local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6F3E9F-0886-4652-A956-10F6FB5DE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341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571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06571"/>
                </a:solidFill>
                <a:latin typeface="Calibri"/>
                <a:ea typeface="Calibri"/>
                <a:cs typeface="Calibri"/>
              </a:rPr>
              <a:t>NexaFlow     EPE 3     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9E3F0B-3D30-4C75-817D-F39AEECB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1450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22 pruebas aprobadas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EE51F2-DBE9-4F51-8981-3C4840D2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6700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Predicciones, entradas inválidas, integración y fallos del servicio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0E2F2B-2B0A-43FE-8EE5-B97B007C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0"/>
            <a:ext cx="666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API: p95 41.9 ms</a:t>
            </a:r>
          </a:p>
          <a:p xmlns:a="http://schemas.openxmlformats.org/drawingml/2006/main">
            <a:pPr>
              <a:defRPr sz="240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Web y API: p95 85.5 ms</a:t>
            </a:r>
          </a:p>
          <a:p xmlns:a="http://schemas.openxmlformats.org/drawingml/2006/main">
            <a:pPr>
              <a:defRPr sz="240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0 errores en ambos escenarios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03B4C3-480A-40A6-BED3-53819C69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52875"/>
            <a:ext cx="3143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100 solicitudes</a:t>
            </a:r>
          </a:p>
          <a:p xmlns:a="http://schemas.openxmlformats.org/drawingml/2006/main">
            <a:pPr>
              <a:defRPr sz="225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10 concurrentes</a:t>
            </a:r>
          </a:p>
          <a:p xmlns:a="http://schemas.openxmlformats.org/drawingml/2006/main">
            <a:pPr>
              <a:defRPr sz="225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por escenario</a:t>
            </a:r>
          </a:p>
        </p:txBody>
      </p:sp>
    </p:spTree>
    <p:extLst>
      <p:ext uri="{BB962C8B-B14F-4D97-AF65-F5344CB8AC3E}">
        <p14:creationId xmlns:p14="http://schemas.microsoft.com/office/powerpoint/2010/main" val="18610053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6B857-29AF-404C-A03A-2E6FA63F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625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23B50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23B50"/>
                </a:solidFill>
                <a:latin typeface="Calibri"/>
                <a:ea typeface="Calibri"/>
                <a:cs typeface="Calibri"/>
              </a:rPr>
              <a:t>Validación pendiente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78CFFC-2A68-4BD9-BD63-44FDFB9B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341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571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06571"/>
                </a:solidFill>
                <a:latin typeface="Calibri"/>
                <a:ea typeface="Calibri"/>
                <a:cs typeface="Calibri"/>
              </a:rPr>
              <a:t>NexaFlow     EPE 3    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E4271D-5CA0-4E0E-9AB8-F9C91A77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14500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Datos empresariales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634902-A6B1-4496-A6E4-69660D31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67000"/>
            <a:ext cx="50482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Verificar origen y calidad.</a:t>
            </a:r>
          </a:p>
          <a:p xmlns:a="http://schemas.openxmlformats.org/drawingml/2006/main">
            <a:pPr>
              <a:defRPr sz="232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Reentrenar y evaluar errores por zona y costos operativos.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BE54F6-12E1-4378-AC6B-AA963770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7145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Usabilidad con participantes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5C50B-5B88-44FC-983E-4BCE1A43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857500"/>
            <a:ext cx="5048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Realizar tareas con 3–5 personas.</a:t>
            </a:r>
          </a:p>
          <a:p xmlns:a="http://schemas.openxmlformats.org/drawingml/2006/main">
            <a:pPr>
              <a:defRPr sz="225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Registrar éxito, tiempo y dificultades.</a:t>
            </a:r>
          </a:p>
          <a:p xmlns:a="http://schemas.openxmlformats.org/drawingml/2006/main">
            <a:pPr>
              <a:defRPr sz="2250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Corregir y volver a probar.</a:t>
            </a:r>
          </a:p>
        </p:txBody>
      </p:sp>
    </p:spTree>
    <p:extLst>
      <p:ext uri="{BB962C8B-B14F-4D97-AF65-F5344CB8AC3E}">
        <p14:creationId xmlns:p14="http://schemas.microsoft.com/office/powerpoint/2010/main" val="13308965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2FBE95-EA31-47AF-9673-8D49B9D2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625"/>
            <a:ext cx="1085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23B50"/>
                </a:solidFill>
                <a:latin typeface="Calibri"/>
                <a:ea typeface="Calibri"/>
                <a:cs typeface="Calibri"/>
              </a:defRPr>
            </a:pPr>
            <a:r>
              <a:rPr sz="3300" b="1">
                <a:solidFill>
                  <a:srgbClr val="123B50"/>
                </a:solidFill>
                <a:latin typeface="Calibri"/>
                <a:ea typeface="Calibri"/>
                <a:cs typeface="Calibri"/>
              </a:rPr>
              <a:t>Entregables y cierre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379BE1-B4C5-4E67-9FEF-095657582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3341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571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506571"/>
                </a:solidFill>
                <a:latin typeface="Calibri"/>
                <a:ea typeface="Calibri"/>
                <a:cs typeface="Calibri"/>
              </a:rPr>
              <a:t>NexaFlow     EPE 3    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763E5-4499-4073-8696-A88C1D4C0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Informe Word y PDF con desarrollo y evidencias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1A878-590F-4A22-9762-7FBA4A2F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14325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3345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3345"/>
                </a:solidFill>
                <a:latin typeface="Calibri"/>
                <a:ea typeface="Calibri"/>
                <a:cs typeface="Calibri"/>
              </a:rPr>
              <a:t>Código, modelo, pruebas y evidencia de ejecución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33312A-683C-4373-9ECC-33EA7654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76750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Repositorio: github.com/RenatoLV/EPE3-IPCHILE-ING</a:t>
            </a:r>
          </a:p>
          <a:p xmlns:a="http://schemas.openxmlformats.org/drawingml/2006/main">
            <a:pPr>
              <a:defRPr sz="2325" b="1">
                <a:solidFill>
                  <a:srgbClr val="006B68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06B68"/>
                </a:solidFill>
                <a:latin typeface="Calibri"/>
                <a:ea typeface="Calibri"/>
                <a:cs typeface="Calibri"/>
              </a:rPr>
              <a:t>Pendiente: datos personales y prueba con usuarios reales</a:t>
            </a:r>
          </a:p>
        </p:txBody>
      </p:sp>
    </p:spTree>
    <p:extLst>
      <p:ext uri="{BB962C8B-B14F-4D97-AF65-F5344CB8AC3E}">
        <p14:creationId xmlns:p14="http://schemas.microsoft.com/office/powerpoint/2010/main" val="439521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2026-09-16T20:42:06.8540000Z</dcterms:created>
  <dcterms:modified xsi:type="dcterms:W3CDTF">2026-09-16T20:42:06.8540000Z</dcterms:modified>
</coreProperties>
</file>